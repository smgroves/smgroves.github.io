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04"/>
    <p:restoredTop sz="94673"/>
  </p:normalViewPr>
  <p:slideViewPr>
    <p:cSldViewPr snapToGrid="0">
      <p:cViewPr varScale="1">
        <p:scale>
          <a:sx n="173" d="100"/>
          <a:sy n="173" d="100"/>
        </p:scale>
        <p:origin x="232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4B4D0-9883-4D4F-ABB9-668228B5462E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4004A-E033-414F-8689-1D15C54C0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461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4004A-E033-414F-8689-1D15C54C05D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60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5FB2D-1CC2-B8D0-D943-5F3E21915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253D9-2951-00D4-4D7D-F52950872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05062-79ED-66E0-F4CD-607BC6CCA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2155-5A3D-0B4A-A136-43D29EEA23CF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84DA1-4D2E-256E-F32B-7C7886337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E720A-3E1B-8819-7221-B537F389B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EFF05-73F9-B84E-8459-8DDA8616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007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80253-0ECA-2187-C320-AEFA16BDE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A5507-6D3D-585C-B286-3ADC0F44A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60330-0BA3-D406-8609-7B3716AB8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2155-5A3D-0B4A-A136-43D29EEA23CF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1A548-24F7-175B-CA27-92D43CFE0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9B70E-C7F6-8788-FBB5-6081035D7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EFF05-73F9-B84E-8459-8DDA8616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39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4F333-D90E-6658-4435-213001DEC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3F1B1-04F7-5CCE-C9E8-46A6969C5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E3566-120E-2865-9881-DEAE147BC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2155-5A3D-0B4A-A136-43D29EEA23CF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FF5F3-482D-5A96-4F75-7CF490E67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D6BB9-9920-36BB-8DD5-1D1AD6A86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EFF05-73F9-B84E-8459-8DDA8616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159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DB0F7-9C90-0876-31A9-599158B4D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BE1F2-49E0-28D2-2071-905BAD3606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6F728A-3EA9-8106-895C-0349EC82F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F20A5A-A940-32A2-1962-0BD36CEB0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2155-5A3D-0B4A-A136-43D29EEA23CF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6C99C-47A6-857D-BABE-6D69C26C5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87452B-C986-61BA-6529-6E13B57BE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EFF05-73F9-B84E-8459-8DDA8616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900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FB21D-ABB5-9EE7-43B3-7B4DADD8B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068E1-14DD-2DD1-AF64-263C33A83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B50AA0-93C8-0540-A5E3-BF6405F2D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27855F-05C1-5C14-321A-762FFF1ACC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220B53-A7F8-6145-159B-6266520C42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DA31F-110F-A72E-3E9A-F516E150F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2155-5A3D-0B4A-A136-43D29EEA23CF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F3FE99-1F50-D47F-4C1D-9649468DF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CF3B1C-504B-5E55-7C5D-D958D2159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EFF05-73F9-B84E-8459-8DDA8616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938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19940-30A0-415C-777E-C24A5ABFE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6455D1-D038-4762-076B-E2A0DEEA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2155-5A3D-0B4A-A136-43D29EEA23CF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90FF54-BC42-0A0B-4CC4-91F727D3D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1DDE18-41E9-B527-4634-FE2D4B2CF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EFF05-73F9-B84E-8459-8DDA8616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07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D3DF12-F2BC-2CC8-98BF-918026AA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2155-5A3D-0B4A-A136-43D29EEA23CF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16F210-59C3-E91D-4D2C-8D70922A0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66893-8F3C-5C40-A9B7-75E0605D5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EFF05-73F9-B84E-8459-8DDA8616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986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B8556-6067-7030-F435-981A091A0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F545-AED6-B398-D661-4BB12307C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68005-676D-1C47-088E-042C0E31F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4E30B2-26F4-7AF5-DC72-0B4872B4C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2155-5A3D-0B4A-A136-43D29EEA23CF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82620-9519-D1D5-4AF0-30CB6775D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4232A-9E06-694B-E929-97AA92AAD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EFF05-73F9-B84E-8459-8DDA8616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31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985C0-D1DC-7F9E-0F80-AF82A9467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2DAE55-6903-1E9E-0FDA-A03D4CB978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CC4E3A-0EB1-D426-C3BE-835AFA4170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9D71-1593-3A50-9439-96D76E907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2155-5A3D-0B4A-A136-43D29EEA23CF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8ACCE6-0112-E6B1-5BCD-A313819E7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C53B5-30C9-621A-8312-CCBFADB9D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EFF05-73F9-B84E-8459-8DDA8616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31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BCAD4-5D31-8BAE-9838-B34ED6CA5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AEF55-A13A-FA8D-E725-47129AE9F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E1ADD-4895-1D23-C33F-7763F3091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2155-5A3D-0B4A-A136-43D29EEA23CF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35234-7DD8-4EAF-8309-80727FEFD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4CAF5-8B34-AC8A-6C4A-F3E760F0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EFF05-73F9-B84E-8459-8DDA8616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883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6AF97D-3B39-D8D7-14A0-02081EDE24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5A32D1-E673-1219-64E1-1898E6888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50CD9-C753-7472-CB3F-B91FC2293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2155-5A3D-0B4A-A136-43D29EEA23CF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44734-43BC-6BB3-04D1-1199198C8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EAB42-1441-FD6D-F82A-6FA5696D9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EFF05-73F9-B84E-8459-8DDA8616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719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6E414D-3315-A966-9669-D33A190C5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78A7D-33F0-BE3C-3A33-513309E5C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AC8D0-06FD-2DF9-27BC-A565A2911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B2155-5A3D-0B4A-A136-43D29EEA23CF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B1BBF-244A-4D09-ED43-A03E1FA7E2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CBCB0-1EDA-9020-DB58-C409E91A64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EFF05-73F9-B84E-8459-8DDA86161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14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ABE1D-2DB0-9C50-7E14-0997869D48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Steps for using GitHub in BME2315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30DE60-29B2-F815-C95A-4641728463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January 27, 2026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Dr. Groves</a:t>
            </a:r>
          </a:p>
        </p:txBody>
      </p:sp>
    </p:spTree>
    <p:extLst>
      <p:ext uri="{BB962C8B-B14F-4D97-AF65-F5344CB8AC3E}">
        <p14:creationId xmlns:p14="http://schemas.microsoft.com/office/powerpoint/2010/main" val="4172371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9C497-9D19-39BC-850F-28D1B7FE4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When setting up a new repository through GitHub classroom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1144E-CB12-DF58-7C5A-61B469299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6348"/>
            <a:ext cx="11353800" cy="520788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Ensure you are a member of the organization </a:t>
            </a:r>
            <a:r>
              <a:rPr lang="en-US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ENG-BME-2315-001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>
              <a:buFont typeface="Wingdings" pitchFamily="2" charset="2"/>
              <a:buChar char="q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Follow the </a:t>
            </a:r>
            <a:r>
              <a:rPr lang="en-US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GitHub classroom link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sent by the instructor to accept a new assignment.</a:t>
            </a:r>
          </a:p>
          <a:p>
            <a:pPr>
              <a:buFont typeface="Wingdings" pitchFamily="2" charset="2"/>
              <a:buChar char="q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If the assignment is a pair assignment, either:</a:t>
            </a:r>
          </a:p>
          <a:p>
            <a:pPr lvl="1">
              <a:buFont typeface="Wingdings" pitchFamily="2" charset="2"/>
              <a:buChar char="q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Make a team called “LastName1_LastName2” for you and your partner </a:t>
            </a:r>
            <a:r>
              <a:rPr lang="en-US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</a:t>
            </a:r>
          </a:p>
          <a:p>
            <a:pPr lvl="1">
              <a:buFont typeface="Wingdings" pitchFamily="2" charset="2"/>
              <a:buChar char="q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Join your partner’s team if they have already made one.</a:t>
            </a:r>
          </a:p>
          <a:p>
            <a:pPr>
              <a:buFont typeface="Wingdings" pitchFamily="2" charset="2"/>
              <a:buChar char="q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This should make a GitHub repo in the ENG-BME-2315-001 organization that you can access.</a:t>
            </a:r>
          </a:p>
          <a:p>
            <a:pPr>
              <a:buFont typeface="Wingdings" pitchFamily="2" charset="2"/>
              <a:buChar char="q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Go to </a:t>
            </a:r>
            <a:r>
              <a:rPr lang="en-US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GitHub Desktop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and </a:t>
            </a:r>
            <a:r>
              <a:rPr lang="en-US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clone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repository to your local folder for this class. Remember to put the repository folder INSIDE your class folder on your computer.</a:t>
            </a:r>
          </a:p>
          <a:p>
            <a:pPr>
              <a:buFont typeface="Wingdings" pitchFamily="2" charset="2"/>
              <a:buChar char="q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 </a:t>
            </a:r>
            <a:r>
              <a:rPr lang="en-US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GitHub Desktop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make a new branch for your own code (with your name) and </a:t>
            </a:r>
            <a:r>
              <a:rPr lang="en-US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publish branch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</a:t>
            </a:r>
            <a:r>
              <a:rPr lang="en-US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push origin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You will be pushing and pulling to this branch until you are happy with your code, at which point you will do a </a:t>
            </a:r>
            <a:r>
              <a:rPr lang="en-US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pull request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>
              <a:buFont typeface="Wingdings" pitchFamily="2" charset="2"/>
              <a:buChar char="q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After this set up, follow the steps on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693067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06FFD-B77D-EBC8-1310-FAB194E9D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46933"/>
            <a:ext cx="10515600" cy="1325563"/>
          </a:xfrm>
        </p:spPr>
        <p:txBody>
          <a:bodyPr/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Every time you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AAF2B-9501-28A7-01A1-79686A96D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89040"/>
            <a:ext cx="9839955" cy="6068960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Go to </a:t>
            </a:r>
            <a:r>
              <a:rPr lang="en-US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GitHub Desktop</a:t>
            </a:r>
          </a:p>
          <a:p>
            <a:pPr lvl="1">
              <a:buFont typeface="Wingdings" pitchFamily="2" charset="2"/>
              <a:buChar char="q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Make sure your current </a:t>
            </a:r>
            <a:r>
              <a:rPr lang="en-US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branch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is your own</a:t>
            </a:r>
          </a:p>
          <a:p>
            <a:pPr lvl="1">
              <a:buFont typeface="Wingdings" pitchFamily="2" charset="2"/>
              <a:buChar char="q"/>
            </a:pPr>
            <a:r>
              <a:rPr lang="en-US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Pull origin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 get any changes from the remote repository. </a:t>
            </a:r>
          </a:p>
          <a:p>
            <a:pPr lvl="1">
              <a:buFont typeface="Wingdings" pitchFamily="2" charset="2"/>
              <a:buChar char="q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If you partner has pushed code to the main branch that you want to fetch into your branch, click on Current branch and then “Choose a branch to merge into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YourName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.” Then </a:t>
            </a:r>
            <a:r>
              <a:rPr lang="en-US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merge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main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into </a:t>
            </a:r>
            <a:r>
              <a:rPr lang="en-US" dirty="0" err="1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YourName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(See right). Alternatively, you can open and close branches for each coding session (so you would always make a branch from </a:t>
            </a:r>
            <a:r>
              <a:rPr lang="en-US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main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before coding).</a:t>
            </a:r>
          </a:p>
          <a:p>
            <a:pPr>
              <a:buFont typeface="Wingdings" pitchFamily="2" charset="2"/>
              <a:buChar char="q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Open </a:t>
            </a:r>
            <a:r>
              <a:rPr lang="en-US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VS Code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</a:p>
          <a:p>
            <a:pPr lvl="1">
              <a:buFont typeface="Wingdings" pitchFamily="2" charset="2"/>
              <a:buChar char="q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Open your </a:t>
            </a:r>
            <a:r>
              <a:rPr lang="en-US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folder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(from the intro to python lecture) for this class. Look into the appropriate repository subfolder (where you’ve clone the repo). </a:t>
            </a:r>
          </a:p>
          <a:p>
            <a:pPr lvl="1">
              <a:buFont typeface="Wingdings" pitchFamily="2" charset="2"/>
              <a:buChar char="q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Open your files that you want to edit or make a new file. </a:t>
            </a:r>
          </a:p>
          <a:p>
            <a:pPr lvl="1">
              <a:buFont typeface="Wingdings" pitchFamily="2" charset="2"/>
              <a:buChar char="q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Make sure your environment is correct (you should see your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conda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environment “</a:t>
            </a:r>
            <a:r>
              <a:rPr lang="en-US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base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 and the Python version in the bottom right or upper right corner)</a:t>
            </a:r>
          </a:p>
          <a:p>
            <a:pPr lvl="1">
              <a:buFont typeface="Wingdings" pitchFamily="2" charset="2"/>
              <a:buChar char="q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 &amp; save the files!</a:t>
            </a:r>
          </a:p>
          <a:p>
            <a:pPr>
              <a:buFont typeface="Wingdings" pitchFamily="2" charset="2"/>
              <a:buChar char="q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Open </a:t>
            </a:r>
            <a:r>
              <a:rPr lang="en-US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GitHub desktop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again.</a:t>
            </a:r>
          </a:p>
          <a:p>
            <a:pPr lvl="1">
              <a:buFont typeface="Wingdings" pitchFamily="2" charset="2"/>
              <a:buChar char="q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 should see the changes you’ve made.</a:t>
            </a:r>
          </a:p>
          <a:p>
            <a:pPr lvl="1">
              <a:buFont typeface="Wingdings" pitchFamily="2" charset="2"/>
              <a:buChar char="q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a commit message (summary), </a:t>
            </a:r>
            <a:r>
              <a:rPr lang="en-US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commit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and </a:t>
            </a:r>
            <a:r>
              <a:rPr lang="en-US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push origin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lvl="1">
              <a:buFont typeface="Wingdings" pitchFamily="2" charset="2"/>
              <a:buChar char="q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 can now double check on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Github.com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that the remote version of your branch is the same as what’s on your local computer. If it is, the instructors and your partner can see your changes!</a:t>
            </a:r>
          </a:p>
          <a:p>
            <a:pPr lvl="1">
              <a:buFont typeface="Wingdings" pitchFamily="2" charset="2"/>
              <a:buChar char="q"/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0DBDAC-C63F-634F-FD13-B1BF67EB7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9955" y="0"/>
            <a:ext cx="23520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852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3046F-575C-49DA-E27E-F6F3C2119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When you are ready to add code from your branch to the main branch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8A8DF-788D-6B78-231A-C77FF4AC9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11353800" cy="5307705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Open </a:t>
            </a:r>
            <a:r>
              <a:rPr lang="en-US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GitHub desktop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Make sure you are on your own branch. </a:t>
            </a:r>
          </a:p>
          <a:p>
            <a:pPr>
              <a:buFont typeface="Wingdings" pitchFamily="2" charset="2"/>
              <a:buChar char="q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Open a </a:t>
            </a:r>
            <a:r>
              <a:rPr lang="en-US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pull request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lvl="1">
              <a:buFont typeface="Wingdings" pitchFamily="2" charset="2"/>
              <a:buChar char="q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Follow the screens (clicking blue or green buttons) to make the pull request (it will automatically open </a:t>
            </a:r>
            <a:r>
              <a:rPr lang="en-US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github.com</a:t>
            </a:r>
            <a:r>
              <a:rPr lang="en-US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 the internet browser)</a:t>
            </a:r>
          </a:p>
          <a:p>
            <a:pPr lvl="1">
              <a:buFont typeface="Wingdings" pitchFamily="2" charset="2"/>
              <a:buChar char="q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Add comments to explain what the pull request is doing.</a:t>
            </a:r>
          </a:p>
          <a:p>
            <a:pPr>
              <a:buFont typeface="Wingdings" pitchFamily="2" charset="2"/>
              <a:buChar char="q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Wait for your partner to </a:t>
            </a:r>
            <a:r>
              <a:rPr lang="en-US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accept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your pull request or add </a:t>
            </a:r>
            <a:r>
              <a:rPr lang="en-US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comments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lvl="1">
              <a:buFont typeface="Wingdings" pitchFamily="2" charset="2"/>
              <a:buChar char="q"/>
            </a:pPr>
            <a:r>
              <a:rPr lang="en-US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Merge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your code into the </a:t>
            </a:r>
            <a:r>
              <a:rPr lang="en-US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main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branch if your partner hasn’t yet. </a:t>
            </a:r>
          </a:p>
          <a:p>
            <a:pPr>
              <a:buFont typeface="Wingdings" pitchFamily="2" charset="2"/>
              <a:buChar char="q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Go back to </a:t>
            </a:r>
            <a:r>
              <a:rPr lang="en-US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GitHub desktop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Your main branch and personal branch should now be the same. </a:t>
            </a:r>
          </a:p>
          <a:p>
            <a:pPr lvl="1">
              <a:buFont typeface="Wingdings" pitchFamily="2" charset="2"/>
              <a:buChar char="q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Remind your partner to </a:t>
            </a:r>
            <a:r>
              <a:rPr lang="en-US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pull main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 get your code!</a:t>
            </a:r>
          </a:p>
          <a:p>
            <a:pPr>
              <a:buFont typeface="Wingdings" pitchFamily="2" charset="2"/>
              <a:buChar char="q"/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4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ud 3">
            <a:extLst>
              <a:ext uri="{FF2B5EF4-FFF2-40B4-BE49-F238E27FC236}">
                <a16:creationId xmlns:a16="http://schemas.microsoft.com/office/drawing/2014/main" id="{B4D2952A-30E7-6E5E-CF66-B65B42FDDE55}"/>
              </a:ext>
            </a:extLst>
          </p:cNvPr>
          <p:cNvSpPr/>
          <p:nvPr/>
        </p:nvSpPr>
        <p:spPr>
          <a:xfrm>
            <a:off x="2048608" y="70339"/>
            <a:ext cx="7148146" cy="4000500"/>
          </a:xfrm>
          <a:prstGeom prst="cloud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FEF8F6-9874-0E13-E096-A1150EF7ED25}"/>
              </a:ext>
            </a:extLst>
          </p:cNvPr>
          <p:cNvSpPr txBox="1"/>
          <p:nvPr/>
        </p:nvSpPr>
        <p:spPr>
          <a:xfrm>
            <a:off x="8437685" y="305979"/>
            <a:ext cx="3042138" cy="129397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“Origin”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 </a:t>
            </a:r>
            <a:r>
              <a:rPr lang="en-US" sz="1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www.github.com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Shared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Online (can think of this as in the cloud)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138B56-C1F9-E3D8-BD45-02308850E6BC}"/>
              </a:ext>
            </a:extLst>
          </p:cNvPr>
          <p:cNvSpPr txBox="1"/>
          <p:nvPr/>
        </p:nvSpPr>
        <p:spPr>
          <a:xfrm>
            <a:off x="8437685" y="5194532"/>
            <a:ext cx="3042138" cy="105560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 your own computer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Not shared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What will show up in VS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Tracked automatically by </a:t>
            </a:r>
            <a:r>
              <a:rPr lang="en-US" sz="1400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AF8161-3008-F911-F934-8E8307D0F170}"/>
              </a:ext>
            </a:extLst>
          </p:cNvPr>
          <p:cNvSpPr txBox="1"/>
          <p:nvPr/>
        </p:nvSpPr>
        <p:spPr>
          <a:xfrm>
            <a:off x="61547" y="0"/>
            <a:ext cx="21804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This is an example of a </a:t>
            </a:r>
            <a:r>
              <a:rPr lang="en-US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single repository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with </a:t>
            </a:r>
            <a:r>
              <a:rPr lang="en-US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multiple branches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Remember that this means there are multiple versions of the same project code.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0B622F-FE94-6F6F-1A64-8DE46F0B2C0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731498" y="5150287"/>
            <a:ext cx="1415682" cy="14156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C2010F-A607-5B2B-90AD-F05DAB3859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6314925" y="1234689"/>
            <a:ext cx="1593597" cy="15935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B12D77-9F4C-93F9-1671-3BAC54AA01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01698" y="1251717"/>
            <a:ext cx="1593597" cy="15723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42C66B-04D8-D1AD-395C-D94D8A0E2C78}"/>
              </a:ext>
            </a:extLst>
          </p:cNvPr>
          <p:cNvSpPr txBox="1"/>
          <p:nvPr/>
        </p:nvSpPr>
        <p:spPr>
          <a:xfrm>
            <a:off x="6821212" y="887480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839CA5-F157-AC7D-6038-F24E52691ED2}"/>
              </a:ext>
            </a:extLst>
          </p:cNvPr>
          <p:cNvSpPr txBox="1"/>
          <p:nvPr/>
        </p:nvSpPr>
        <p:spPr>
          <a:xfrm>
            <a:off x="3965190" y="865357"/>
            <a:ext cx="1443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your_branch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7A513E-80B3-5C1B-12A1-4BEE52A8854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504871" y="5150287"/>
            <a:ext cx="1415682" cy="14156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233775-F530-8829-FBED-ED53410A9DE6}"/>
              </a:ext>
            </a:extLst>
          </p:cNvPr>
          <p:cNvSpPr txBox="1"/>
          <p:nvPr/>
        </p:nvSpPr>
        <p:spPr>
          <a:xfrm>
            <a:off x="3755273" y="4825200"/>
            <a:ext cx="1443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your_branch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BE17DF-A211-5E16-F718-9AC0172123B7}"/>
              </a:ext>
            </a:extLst>
          </p:cNvPr>
          <p:cNvSpPr txBox="1"/>
          <p:nvPr/>
        </p:nvSpPr>
        <p:spPr>
          <a:xfrm>
            <a:off x="6885539" y="4825200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main</a:t>
            </a:r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E9C2DD11-2E03-A461-12A5-E8FD41D1E253}"/>
              </a:ext>
            </a:extLst>
          </p:cNvPr>
          <p:cNvSpPr/>
          <p:nvPr/>
        </p:nvSpPr>
        <p:spPr>
          <a:xfrm flipV="1">
            <a:off x="4439338" y="2898058"/>
            <a:ext cx="331765" cy="192714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CEEFA3-EF66-5635-DCEE-30EBD381F098}"/>
              </a:ext>
            </a:extLst>
          </p:cNvPr>
          <p:cNvSpPr txBox="1"/>
          <p:nvPr/>
        </p:nvSpPr>
        <p:spPr>
          <a:xfrm>
            <a:off x="2621178" y="3910217"/>
            <a:ext cx="19912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publish branch &amp; </a:t>
            </a:r>
          </a:p>
          <a:p>
            <a:pPr algn="r"/>
            <a:r>
              <a:rPr lang="en-US" sz="1600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push origin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113E3B7E-A075-BCD2-F11E-19DB31236688}"/>
              </a:ext>
            </a:extLst>
          </p:cNvPr>
          <p:cNvSpPr/>
          <p:nvPr/>
        </p:nvSpPr>
        <p:spPr>
          <a:xfrm>
            <a:off x="5479026" y="1902542"/>
            <a:ext cx="752168" cy="36133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AE34A6-08BF-67D6-F808-54C7A05501EC}"/>
              </a:ext>
            </a:extLst>
          </p:cNvPr>
          <p:cNvSpPr txBox="1"/>
          <p:nvPr/>
        </p:nvSpPr>
        <p:spPr>
          <a:xfrm>
            <a:off x="5218300" y="1352237"/>
            <a:ext cx="1317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pull request &amp; merge</a:t>
            </a:r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A45FA83D-A482-BC6A-46AC-D5BCF78EAD27}"/>
              </a:ext>
            </a:extLst>
          </p:cNvPr>
          <p:cNvSpPr/>
          <p:nvPr/>
        </p:nvSpPr>
        <p:spPr>
          <a:xfrm>
            <a:off x="7046829" y="2929434"/>
            <a:ext cx="331765" cy="192714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55DA80-5793-6B41-58DB-7DBF1DD8B878}"/>
              </a:ext>
            </a:extLst>
          </p:cNvPr>
          <p:cNvSpPr txBox="1"/>
          <p:nvPr/>
        </p:nvSpPr>
        <p:spPr>
          <a:xfrm>
            <a:off x="7312056" y="3956512"/>
            <a:ext cx="1079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pull origin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C7F820-9462-B45E-922D-51EB32A770FA}"/>
              </a:ext>
            </a:extLst>
          </p:cNvPr>
          <p:cNvSpPr txBox="1"/>
          <p:nvPr/>
        </p:nvSpPr>
        <p:spPr>
          <a:xfrm>
            <a:off x="9456769" y="4856576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“Local”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8A1687-23B0-47AC-5E75-EE73E3844471}"/>
              </a:ext>
            </a:extLst>
          </p:cNvPr>
          <p:cNvSpPr txBox="1"/>
          <p:nvPr/>
        </p:nvSpPr>
        <p:spPr>
          <a:xfrm>
            <a:off x="9309824" y="0"/>
            <a:ext cx="7779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“Remote”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50C6BD97-208D-1064-207B-E11905EF16DA}"/>
              </a:ext>
            </a:extLst>
          </p:cNvPr>
          <p:cNvSpPr/>
          <p:nvPr/>
        </p:nvSpPr>
        <p:spPr>
          <a:xfrm flipH="1">
            <a:off x="5147180" y="5660182"/>
            <a:ext cx="1357691" cy="361335"/>
          </a:xfrm>
          <a:prstGeom prst="rightArrow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366AA8-0208-C551-5E27-4BB1717D497A}"/>
              </a:ext>
            </a:extLst>
          </p:cNvPr>
          <p:cNvSpPr txBox="1"/>
          <p:nvPr/>
        </p:nvSpPr>
        <p:spPr>
          <a:xfrm>
            <a:off x="5147180" y="5992643"/>
            <a:ext cx="1464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“choose a branch to merge into </a:t>
            </a:r>
            <a:r>
              <a:rPr lang="en-US" sz="1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your_branch</a:t>
            </a: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A0E473-0545-5D5B-A89F-8A330A56A582}"/>
              </a:ext>
            </a:extLst>
          </p:cNvPr>
          <p:cNvSpPr txBox="1"/>
          <p:nvPr/>
        </p:nvSpPr>
        <p:spPr>
          <a:xfrm>
            <a:off x="1969080" y="5977058"/>
            <a:ext cx="18326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Where you should be coding in VS code most of the time</a:t>
            </a:r>
          </a:p>
        </p:txBody>
      </p: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31B0FDBB-FD94-E680-4DF0-FE852144E215}"/>
              </a:ext>
            </a:extLst>
          </p:cNvPr>
          <p:cNvCxnSpPr>
            <a:stCxn id="26" idx="0"/>
          </p:cNvCxnSpPr>
          <p:nvPr/>
        </p:nvCxnSpPr>
        <p:spPr>
          <a:xfrm rot="5400000" flipH="1" flipV="1">
            <a:off x="3105588" y="5280949"/>
            <a:ext cx="475910" cy="91630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516BA09-A03D-F552-CA85-FD69C07BEE27}"/>
              </a:ext>
            </a:extLst>
          </p:cNvPr>
          <p:cNvSpPr txBox="1"/>
          <p:nvPr/>
        </p:nvSpPr>
        <p:spPr>
          <a:xfrm>
            <a:off x="5337914" y="4721463"/>
            <a:ext cx="111674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Start a new branch for each coding session</a:t>
            </a:r>
          </a:p>
          <a:p>
            <a:pPr algn="ctr"/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 </a:t>
            </a:r>
          </a:p>
        </p:txBody>
      </p:sp>
    </p:spTree>
    <p:extLst>
      <p:ext uri="{BB962C8B-B14F-4D97-AF65-F5344CB8AC3E}">
        <p14:creationId xmlns:p14="http://schemas.microsoft.com/office/powerpoint/2010/main" val="2022229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683</Words>
  <Application>Microsoft Macintosh PowerPoint</Application>
  <PresentationFormat>Widescreen</PresentationFormat>
  <Paragraphs>61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Roboto</vt:lpstr>
      <vt:lpstr>Wingdings</vt:lpstr>
      <vt:lpstr>Office Theme</vt:lpstr>
      <vt:lpstr>Steps for using GitHub in BME2315</vt:lpstr>
      <vt:lpstr>When setting up a new repository through GitHub classroom</vt:lpstr>
      <vt:lpstr>Every time you code</vt:lpstr>
      <vt:lpstr>When you are ready to add code from your branch to the main branch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Steps for using GitHub in BME2315</dc:title>
  <dc:creator>Microsoft Office User</dc:creator>
  <cp:lastModifiedBy>Groves, Sarah Maddox (xpz5km)</cp:lastModifiedBy>
  <cp:revision>32</cp:revision>
  <dcterms:created xsi:type="dcterms:W3CDTF">2026-01-23T16:28:48Z</dcterms:created>
  <dcterms:modified xsi:type="dcterms:W3CDTF">2026-01-27T01:44:51Z</dcterms:modified>
</cp:coreProperties>
</file>